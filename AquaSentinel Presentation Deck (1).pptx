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Inter"/>
      <ns0:bold ns1:id="rIdFont15"/>
      <ns0:regular ns1:id="rIdFont16"/>
    </ns0:embeddedFont>
    <ns0:embeddedFont>
      <ns0:font typeface="Plus Jakarta Sans"/>
      <ns0:bold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cf45d1b0-3c6b-408d-871c-64bdddcfaf8f.fntdata" /><ns0:Relationship Id="rIdFont16" Type="http://schemas.openxmlformats.org/officeDocument/2006/relationships/font" Target="fonts/fa389d6b-5087-47d5-a824-4ee94d273ddb.fntdata" /><ns0:Relationship Id="rIdFont17" Type="http://schemas.openxmlformats.org/officeDocument/2006/relationships/font" Target="fonts/e8280400-bf21-433b-a2ca-759f2a52571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781675"/>
            <a:ext cx="10972800" cy="466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53600" y="652462"/>
            <a:ext cx="1828800" cy="295275"/>
          </a:xfrm>
          <a:prstGeom prst="roundRect">
            <a:avLst>
              <a:gd name="adj" fmla="val 50000"/>
            </a:avLst>
          </a:prstGeom>
          <a:solidFill>
            <a:srgbClr val="0F2C47"/>
          </a:solidFill>
          <a:ln w="9525">
            <a:solidFill>
              <a:srgbClr val="0F50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78167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76950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6076950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525" y="6076950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2" y="704850"/>
            <a:ext cx="1428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6000" y="709612"/>
            <a:ext cx="16192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WORKING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83197"/>
            <a:ext cx="10239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A5E9"/>
                </a:solidFill>
                <a:latin typeface="Inter"/>
              </a:rPr>
              <a:t>AUTONOMOUS ENVIRONMENTAL IOT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826097"/>
            <a:ext cx="870108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Autonomous Water Quality Monitoring &amp; Automatic Shutoff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93827"/>
            <a:ext cx="10239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Real-time sensing. Automatic safety response. Live compliance visibility.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9375" y="6057900"/>
            <a:ext cx="333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0" y="6057900"/>
            <a:ext cx="333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681037"/>
            <a:ext cx="190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AQUASENTINEL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6062662"/>
            <a:ext cx="2035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Real-Time Edge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7050" y="6062662"/>
            <a:ext cx="1928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Auto Fail-Safe Shutoff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275" y="6062662"/>
            <a:ext cx="1821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Live Cloud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00725"/>
            <a:ext cx="10972800" cy="523875"/>
          </a:xfrm>
          <a:prstGeom prst="roundRect">
            <a:avLst>
              <a:gd name="adj" fmla="val 2181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64023"/>
            <a:ext cx="499110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91300" y="2664023"/>
            <a:ext cx="499110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78348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3721298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5" y="297834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3331" y="5991225"/>
            <a:ext cx="100012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7157" y="5991225"/>
            <a:ext cx="185737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733" y="5991225"/>
            <a:ext cx="185737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5" y="3092648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1350" y="3092648"/>
            <a:ext cx="2857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314450"/>
            <a:ext cx="9429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low-cost, autonomous system pairing field sensor nodes with a cloud compliance dashboard — enabling instant safety response without human delay.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3331" y="5972175"/>
            <a:ext cx="2482453" cy="180975"/>
          </a:xfrm>
          <a:prstGeom prst="rect">
            <a:avLst/>
          </a:prstGeom>
          <a:noFill/>
        </p:spPr>
        <p:txBody>
          <a:bodyPr wrap="none" lIns="176212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Inter"/>
              </a:rPr>
              <a:t>LOW-COST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7157" y="5972175"/>
            <a:ext cx="2363390" cy="180975"/>
          </a:xfrm>
          <a:prstGeom prst="rect">
            <a:avLst/>
          </a:prstGeom>
          <a:noFill/>
        </p:spPr>
        <p:txBody>
          <a:bodyPr wrap="none" lIns="261937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Inter"/>
              </a:rPr>
              <a:t>100% AUTONOMOUS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733" y="5972175"/>
            <a:ext cx="2565796" cy="180975"/>
          </a:xfrm>
          <a:prstGeom prst="rect">
            <a:avLst/>
          </a:prstGeom>
          <a:noFill/>
        </p:spPr>
        <p:txBody>
          <a:bodyPr wrap="none" lIns="261937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Inter"/>
              </a:rPr>
              <a:t>REAL-TIME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587948"/>
            <a:ext cx="572571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Field Sensor Nodes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007048"/>
            <a:ext cx="4457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Deployed directly at the water source. Dosing pump neutralizes water inline before the valve; if contamination exceeds capacity, the valve shuts automatically.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5625" y="3587948"/>
            <a:ext cx="5286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Cloud Compliance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625" y="4007048"/>
            <a:ext cx="4457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Every reading is logged and timestamped in real time. The same control data seamlessly builds an immutable compliance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62600"/>
            <a:ext cx="10972800" cy="7620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76525"/>
            <a:ext cx="34988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7000" y="2676525"/>
            <a:ext cx="34988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4400" y="2667000"/>
            <a:ext cx="3517850" cy="1857375"/>
          </a:xfrm>
          <a:prstGeom prst="roundRect">
            <a:avLst>
              <a:gd name="adj" fmla="val 8205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562600"/>
            <a:ext cx="38100" cy="762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44026" y="3057525"/>
            <a:ext cx="790575" cy="209550"/>
          </a:xfrm>
          <a:prstGeom prst="roundRect">
            <a:avLst>
              <a:gd name="adj" fmla="val 2727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838825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95275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125" y="2952750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737" y="3067050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425" y="3067050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050" y="2952750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2538" y="3067050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TRIPLE-PARAMETER SENSING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What It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31445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AquaSentinel watches three parameters continuously at every field node: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5753100"/>
            <a:ext cx="102584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Autonomous Action: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 Inline dosing pump treats water before reaching the valve. If contamination exceeds neutralization capacity, the valve closes instantly.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486150"/>
            <a:ext cx="39670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Water Presence &amp;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838575"/>
            <a:ext cx="3117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Verifies whether water is present at the source and flowing normally.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5125" y="3486150"/>
            <a:ext cx="39670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Gas / Off-Gassing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5125" y="3838575"/>
            <a:ext cx="3117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Detects volatile chemical off-gassing or biological contamination hazards.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2050" y="3486150"/>
            <a:ext cx="38799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Turbidity &amp; Clarity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2050" y="3838575"/>
            <a:ext cx="3117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0369A1"/>
                </a:solidFill>
                <a:latin typeface="Inter"/>
              </a:rPr>
              <a:t>Measures water clarity and suspended solids to prevent sediment discharge.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0226" y="3095625"/>
            <a:ext cx="7334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CORRECTED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66850"/>
            <a:ext cx="5747891" cy="485775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00391" y="1466850"/>
            <a:ext cx="4882008" cy="485775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3457575"/>
            <a:ext cx="5195441" cy="561975"/>
          </a:xfrm>
          <a:prstGeom prst="roundRect">
            <a:avLst>
              <a:gd name="adj" fmla="val 16949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4133850"/>
            <a:ext cx="5195441" cy="561975"/>
          </a:xfrm>
          <a:prstGeom prst="roundRect">
            <a:avLst>
              <a:gd name="adj" fmla="val 1694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4810125"/>
            <a:ext cx="5195441" cy="561975"/>
          </a:xfrm>
          <a:prstGeom prst="roundRect">
            <a:avLst>
              <a:gd name="adj" fmla="val 16949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5486400"/>
            <a:ext cx="5195441" cy="561975"/>
          </a:xfrm>
          <a:prstGeom prst="roundRect">
            <a:avLst>
              <a:gd name="adj" fmla="val 16949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76616" y="2149375"/>
            <a:ext cx="4329558" cy="352425"/>
          </a:xfrm>
          <a:prstGeom prst="roundRect">
            <a:avLst>
              <a:gd name="adj" fmla="val 216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616" y="3022401"/>
            <a:ext cx="4329558" cy="371475"/>
          </a:xfrm>
          <a:prstGeom prst="roundRect">
            <a:avLst>
              <a:gd name="adj" fmla="val 20512"/>
            </a:avLst>
          </a:prstGeom>
          <a:solidFill>
            <a:srgbClr val="E0F2F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76616" y="3914477"/>
            <a:ext cx="4329558" cy="352425"/>
          </a:xfrm>
          <a:prstGeom prst="roundRect">
            <a:avLst>
              <a:gd name="adj" fmla="val 216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76616" y="4787503"/>
            <a:ext cx="4329558" cy="352425"/>
          </a:xfrm>
          <a:prstGeom prst="roundRect">
            <a:avLst>
              <a:gd name="adj" fmla="val 216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76616" y="5660528"/>
            <a:ext cx="4329558" cy="352425"/>
          </a:xfrm>
          <a:prstGeom prst="roundRect">
            <a:avLst>
              <a:gd name="adj" fmla="val 216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5825" y="3457575"/>
            <a:ext cx="38100" cy="5619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825" y="4133850"/>
            <a:ext cx="38100" cy="5619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825" y="4810125"/>
            <a:ext cx="38100" cy="5619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5825" y="5486400"/>
            <a:ext cx="38100" cy="5619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66887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616" y="1766887"/>
            <a:ext cx="1905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016" y="2249388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458" y="2724001"/>
            <a:ext cx="8572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8541" y="3131939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458" y="3616076"/>
            <a:ext cx="8572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9016" y="4014489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458" y="4489102"/>
            <a:ext cx="8572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9016" y="4887515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458" y="5362128"/>
            <a:ext cx="85725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9016" y="5760541"/>
            <a:ext cx="152400" cy="15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DECISION TREE &amp; DATA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475" y="1743075"/>
            <a:ext cx="6558983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Safety-First Decision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3316" y="1743075"/>
            <a:ext cx="4948683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In-Line Hardware Sequence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6325" y="3571875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Inter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6325" y="42481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6325" y="4924425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Inter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325" y="5600700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Inter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95716" y="2244625"/>
            <a:ext cx="2595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1. Water Quality &amp; Flow Sensors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6191" y="3127176"/>
            <a:ext cx="29170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2. Dosing Pump (Neutralizes Water)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5716" y="4009727"/>
            <a:ext cx="2786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3. Shutoff Valve (Closes if Unsafe)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6666" y="4882753"/>
            <a:ext cx="2619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4. Firestore Telemetry Ingestion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5716" y="5755778"/>
            <a:ext cx="2190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5. Live Dashboard Logging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76350" y="3571875"/>
            <a:ext cx="4738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Inter"/>
              </a:rPr>
              <a:t>Water Safe &amp; Clear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6350" y="3752850"/>
            <a:ext cx="4738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4532D"/>
                </a:solidFill>
                <a:latin typeface="Inter"/>
              </a:rPr>
              <a:t>Valve remains open for standard flow; dosing pump on standby.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04925" y="4248150"/>
            <a:ext cx="52268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75985"/>
                </a:solidFill>
                <a:latin typeface="Inter"/>
              </a:rPr>
              <a:t>Moderate Contamination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04925" y="4429125"/>
            <a:ext cx="5226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C4A6E"/>
                </a:solidFill>
                <a:latin typeface="Inter"/>
              </a:rPr>
              <a:t>Dosing pump activates, neutralizing water before reaching open valve.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04925" y="4924425"/>
            <a:ext cx="5357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Inter"/>
              </a:rPr>
              <a:t>Contamination Too 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4925" y="5105400"/>
            <a:ext cx="5357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F1D1D"/>
                </a:solidFill>
                <a:latin typeface="Inter"/>
              </a:rPr>
              <a:t>Neutralizing is not enough -&gt; Valve closes instantly to block unsafe flow.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4450" y="5600700"/>
            <a:ext cx="3095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2400E"/>
                </a:solidFill>
                <a:latin typeface="Inter"/>
              </a:rPr>
              <a:t>No Water at Source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14450" y="5781675"/>
            <a:ext cx="3095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8350F"/>
                </a:solidFill>
                <a:latin typeface="Inter"/>
              </a:rPr>
              <a:t>Valve holds closed as fail-safe protection.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29300"/>
            <a:ext cx="10972800" cy="495300"/>
          </a:xfrm>
          <a:prstGeom prst="roundRect">
            <a:avLst>
              <a:gd name="adj" fmla="val 1923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819275"/>
            <a:ext cx="2628900" cy="1636216"/>
          </a:xfrm>
          <a:prstGeom prst="roundRect">
            <a:avLst>
              <a:gd name="adj" fmla="val 69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1819275"/>
            <a:ext cx="2628900" cy="1636216"/>
          </a:xfrm>
          <a:prstGeom prst="roundRect">
            <a:avLst>
              <a:gd name="adj" fmla="val 69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819275"/>
            <a:ext cx="2628900" cy="1636216"/>
          </a:xfrm>
          <a:prstGeom prst="roundRect">
            <a:avLst>
              <a:gd name="adj" fmla="val 69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0" y="1819275"/>
            <a:ext cx="2628900" cy="1636216"/>
          </a:xfrm>
          <a:prstGeom prst="roundRect">
            <a:avLst>
              <a:gd name="adj" fmla="val 69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5991225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05740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025" y="2057400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2057400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625" y="2057400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PROTOTYPE HARDWARE &amp;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Under the Hood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31445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Built on field-tested, modular components for rapid deployment and scalability.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5995987"/>
            <a:ext cx="110585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Inter"/>
              </a:rPr>
              <a:t>Additive Integration:</a:t>
            </a:r>
            <a:r>
              <a:rPr b="1" sz="1050" i="0" u="none">
                <a:solidFill>
                  <a:srgbClr val="166534"/>
                </a:solidFill>
                <a:latin typeface="Inter"/>
              </a:rPr>
              <a:t> Integrates seamlessly into AquaSentinel's existing cloud compliance model without disrupting active data pipelines.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38125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Microcontroller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657475"/>
            <a:ext cx="22479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Executes real-time sensing and edge decision logic directly on-device.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238125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Dosing Pump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9025" y="2657475"/>
            <a:ext cx="22479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Injects neutralizing agents directly into the fluid line as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238125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Servo Valve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2657475"/>
            <a:ext cx="22479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Remains open for treated flow; closes instantly if contamination exceeds capacity.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238125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Cloud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625" y="2657475"/>
            <a:ext cx="22479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Firestore + Cloud Functions handle telemetry ingestion, logs, and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2851"/>
            <a:ext cx="5391150" cy="1182885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812851"/>
            <a:ext cx="5391150" cy="1182885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186237"/>
            <a:ext cx="5391150" cy="1182885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4186237"/>
            <a:ext cx="5391150" cy="1182885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89076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3089076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462462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446246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3193851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193851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4567237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4567237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OPERATIONAL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31445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Transforming manual periodic checks into a continuous, self-acting safety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9225" y="3089076"/>
            <a:ext cx="56507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24/7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9225" y="3346251"/>
            <a:ext cx="4400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Continuous automated telemetry removes manual site visit bottlenecks.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75" y="3089076"/>
            <a:ext cx="5191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Instant Shutoff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0875" y="3346251"/>
            <a:ext cx="4400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Unsafe water conditions trigger immediate mechanical shutoff on site.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9225" y="4462462"/>
            <a:ext cx="56507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Auditable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9225" y="4719637"/>
            <a:ext cx="4400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Automated logging creates tamper-evident compliance data with zero paperwork.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875" y="4462462"/>
            <a:ext cx="5191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Low-Cost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875" y="4719637"/>
            <a:ext cx="4400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Off-the-shelf sensors and modular design lower hardware costs dramatically.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66850"/>
            <a:ext cx="5334000" cy="4857750"/>
          </a:xfrm>
          <a:prstGeom prst="roundRect">
            <a:avLst>
              <a:gd name="adj" fmla="val 313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66850"/>
            <a:ext cx="5334000" cy="4857750"/>
          </a:xfrm>
          <a:prstGeom prst="roundRect">
            <a:avLst>
              <a:gd name="adj" fmla="val 3137"/>
            </a:avLst>
          </a:prstGeom>
          <a:solidFill>
            <a:srgbClr val="FFFBED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5753100"/>
            <a:ext cx="1333500" cy="257175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5753100"/>
            <a:ext cx="1171575" cy="257175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795462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804987"/>
            <a:ext cx="1428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228850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543175"/>
            <a:ext cx="11430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857500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171825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2228850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2543175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2857500"/>
            <a:ext cx="114300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PROJECT MILESTONES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Status &amp;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5810250"/>
            <a:ext cx="1200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PROTOTYPE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5810250"/>
            <a:ext cx="1038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Inter"/>
              </a:rPr>
              <a:t>NEXT ITERATION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8725" y="1781175"/>
            <a:ext cx="186273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4532D"/>
                </a:solidFill>
                <a:latin typeface="Plus Jakarta Sans"/>
              </a:rPr>
              <a:t>Built &amp; 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475" y="2209800"/>
            <a:ext cx="5672137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Inter"/>
              </a:rPr>
              <a:t>Sensing &amp; Control Logic:</a:t>
            </a:r>
            <a:r>
              <a:rPr b="0" sz="1125" i="0" u="none">
                <a:solidFill>
                  <a:srgbClr val="166534"/>
                </a:solidFill>
                <a:latin typeface="Inter"/>
              </a:rPr>
              <a:t> Simulated on-device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475" y="2524125"/>
            <a:ext cx="5672137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Inter"/>
              </a:rPr>
              <a:t>Cloud Ingestion Pipeline:</a:t>
            </a:r>
            <a:r>
              <a:rPr b="0" sz="1125" i="0" u="none">
                <a:solidFill>
                  <a:srgbClr val="166534"/>
                </a:solidFill>
                <a:latin typeface="Inter"/>
              </a:rPr>
              <a:t> Live &amp; operational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475" y="2838450"/>
            <a:ext cx="5672137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Inter"/>
              </a:rPr>
              <a:t>Hardware Assembly:</a:t>
            </a:r>
            <a:r>
              <a:rPr b="0" sz="1125" i="0" u="none">
                <a:solidFill>
                  <a:srgbClr val="166534"/>
                </a:solidFill>
                <a:latin typeface="Inter"/>
              </a:rPr>
              <a:t> Prototype rig constructed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475" y="3152775"/>
            <a:ext cx="5672137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Inter"/>
              </a:rPr>
              <a:t>Weatherproof Enclosure:</a:t>
            </a:r>
            <a:r>
              <a:rPr b="0" sz="1125" i="0" u="none">
                <a:solidFill>
                  <a:srgbClr val="166534"/>
                </a:solidFill>
                <a:latin typeface="Inter"/>
              </a:rPr>
              <a:t> Protective housing assembled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0850" y="1781175"/>
            <a:ext cx="21752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78350F"/>
                </a:solidFill>
                <a:latin typeface="Plus Jakarta Sans"/>
              </a:rPr>
              <a:t>Open Follow-Ups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2275" y="2209800"/>
            <a:ext cx="541972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92400E"/>
                </a:solidFill>
                <a:latin typeface="Inter"/>
              </a:rPr>
              <a:t>Field Verification:</a:t>
            </a:r>
            <a:r>
              <a:rPr b="0" sz="1125" i="0" u="none">
                <a:solidFill>
                  <a:srgbClr val="92400E"/>
                </a:solidFill>
                <a:latin typeface="Inter"/>
              </a:rPr>
              <a:t> End-to-end live water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2275" y="2524125"/>
            <a:ext cx="541972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92400E"/>
                </a:solidFill>
                <a:latin typeface="Inter"/>
              </a:rPr>
              <a:t>Controller Selection:</a:t>
            </a:r>
            <a:r>
              <a:rPr b="0" sz="1125" i="0" u="none">
                <a:solidFill>
                  <a:srgbClr val="92400E"/>
                </a:solidFill>
                <a:latin typeface="Inter"/>
              </a:rPr>
              <a:t> Final PCB architecture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2275" y="2838450"/>
            <a:ext cx="541972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92400E"/>
                </a:solidFill>
                <a:latin typeface="Inter"/>
              </a:rPr>
              <a:t>Dashboard UI:</a:t>
            </a:r>
            <a:r>
              <a:rPr b="0" sz="1125" i="0" u="none">
                <a:solidFill>
                  <a:srgbClr val="92400E"/>
                </a:solidFill>
                <a:latin typeface="Inter"/>
              </a:rPr>
              <a:t> Custom Turbidity visualization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0" y="4367212"/>
            <a:ext cx="571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5738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109787"/>
            <a:ext cx="2286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08314" y="2833687"/>
            <a:ext cx="297537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567112"/>
            <a:ext cx="7620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38BDF8"/>
                </a:solidFill>
                <a:latin typeface="Inter"/>
              </a:rPr>
              <a:t>Continuous monitoring. Automatic response. Real accountability.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3640" y="4700587"/>
            <a:ext cx="3464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Inter"/>
              </a:rPr>
              <a:t>Questions &amp; Technical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